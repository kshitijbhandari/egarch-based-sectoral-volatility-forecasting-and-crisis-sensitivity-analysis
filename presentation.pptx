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00218-7438-442F-98A5-3EE122DF08C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FC245-A207-4891-8ACA-5910D79FE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39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FC245-A207-4891-8ACA-5910D79FE6A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29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27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01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1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94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05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64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238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4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58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52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888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7300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12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954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20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755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6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B8A690-FF2E-4861-94EA-D162253A5F8C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EB9EB-1307-457B-A3F3-09465CEB05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8001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5FFE-8C54-4CAF-D982-9065FAEB0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0120"/>
          </a:xfrm>
        </p:spPr>
        <p:txBody>
          <a:bodyPr>
            <a:normAutofit/>
          </a:bodyPr>
          <a:lstStyle/>
          <a:p>
            <a:r>
              <a:rPr lang="en-US" sz="2800" b="1" dirty="0"/>
              <a:t>VOLATILITY FORECASTING AND SECTORAL RISK PROPOGATION IN INDIAN MARKETS : A GARCH PERSPECTIVE</a:t>
            </a: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01808-445E-6CAD-845E-934B34A9F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522483"/>
            <a:ext cx="8825658" cy="334228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map of india with a graph&#10;&#10;AI-generated content may be incorrect.">
            <a:extLst>
              <a:ext uri="{FF2B5EF4-FFF2-40B4-BE49-F238E27FC236}">
                <a16:creationId xmlns:a16="http://schemas.microsoft.com/office/drawing/2014/main" id="{2FE2607D-C1D9-F9BF-4E01-1833E7B53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58" y="2522483"/>
            <a:ext cx="6239435" cy="321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6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9B26-C8CC-2BEE-B8FC-42863F05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17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Agenda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F4A6-4079-84E5-49F0-6958E6DC3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93674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Introduction &amp; Motivation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Description &amp; Return Construction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Stationarity Diagnostics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ARIMA Mean Behavior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Rolling Volatility Patterns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GARCH / EGARCH Modeling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Volatility Forecasting Results</a:t>
            </a:r>
          </a:p>
        </p:txBody>
      </p:sp>
    </p:spTree>
    <p:extLst>
      <p:ext uri="{BB962C8B-B14F-4D97-AF65-F5344CB8AC3E}">
        <p14:creationId xmlns:p14="http://schemas.microsoft.com/office/powerpoint/2010/main" val="388067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4FFC-4368-653A-C5B2-2460536C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08491"/>
          </a:xfrm>
        </p:spPr>
        <p:txBody>
          <a:bodyPr/>
          <a:lstStyle/>
          <a:p>
            <a:pPr algn="ctr"/>
            <a:r>
              <a:rPr lang="en-US" sz="4000" dirty="0"/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2AD0-1930-4105-BEDA-328DACB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1209"/>
            <a:ext cx="8946541" cy="488719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Study of volatility patterns across five key NIFTY sectors (Bank, IT, Pharma, Auto, FMCG)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how market volatility behaves in calm vs crisis periods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 to estimate future volatility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how risk spreads across sectors during shocks</a:t>
            </a:r>
          </a:p>
        </p:txBody>
      </p:sp>
    </p:spTree>
    <p:extLst>
      <p:ext uri="{BB962C8B-B14F-4D97-AF65-F5344CB8AC3E}">
        <p14:creationId xmlns:p14="http://schemas.microsoft.com/office/powerpoint/2010/main" val="402153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9A57-25ED-7819-8CAC-F428F60B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6482"/>
          </a:xfrm>
        </p:spPr>
        <p:txBody>
          <a:bodyPr/>
          <a:lstStyle/>
          <a:p>
            <a:pPr algn="ctr"/>
            <a:r>
              <a:rPr lang="en-US" sz="4000" dirty="0"/>
              <a:t>Data Description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6C955-3C57-2263-BDC6-622E3982E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8386"/>
            <a:ext cx="8946541" cy="48400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Five NIFTY sector indices </a:t>
            </a:r>
            <a:r>
              <a:rPr lang="en-US" dirty="0"/>
              <a:t>(Bank, IT, Pharma, Auto, FMCG)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Daily price data converted to log returns – log returns are additive and statistically </a:t>
            </a:r>
            <a:r>
              <a:rPr lang="en-US" dirty="0" err="1"/>
              <a:t>magneable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Range (2000 – 2021)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Train–test split: last one year treated as test period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 data : 5102 observations, Test data: 251 observations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CA13505-2F2E-583B-5089-279D69082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449" y="4765468"/>
            <a:ext cx="4294772" cy="10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9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FC16-A613-B651-4401-8BA991E1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Stationarity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A8968-16B8-B09C-AA08-98B69685D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All sectors show negligible</a:t>
            </a:r>
            <a:r>
              <a:rPr lang="en-IN" sz="2000" dirty="0"/>
              <a:t> correlation</a:t>
            </a:r>
          </a:p>
          <a:p>
            <a:r>
              <a:rPr lang="en-US" sz="2000" dirty="0"/>
              <a:t>No predictable structure in returns</a:t>
            </a:r>
          </a:p>
          <a:p>
            <a:r>
              <a:rPr lang="en-US" sz="2000" dirty="0"/>
              <a:t>Supports weak-form market efficiency</a:t>
            </a:r>
          </a:p>
          <a:p>
            <a:r>
              <a:rPr lang="en-US" sz="2000" dirty="0"/>
              <a:t>returns behave like white noise across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dirty="0"/>
              <a:t>sectors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C672784A-69E7-B971-B881-80ED2F1E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937" y="2483427"/>
            <a:ext cx="5746172" cy="376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0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63B7-0FC8-1FA5-3F7B-EB70ECC3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83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4FD2B-3974-1028-A73B-591EE04EE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No significant partial </a:t>
            </a:r>
            <a:r>
              <a:rPr lang="en-US" sz="2000" dirty="0" err="1"/>
              <a:t>autotocorrelation</a:t>
            </a:r>
            <a:r>
              <a:rPr lang="en-US" sz="2000" dirty="0"/>
              <a:t> at any lag</a:t>
            </a:r>
          </a:p>
          <a:p>
            <a:r>
              <a:rPr lang="en-US" sz="2000" dirty="0"/>
              <a:t>All spikes remain within the 95% confidence</a:t>
            </a:r>
          </a:p>
          <a:p>
            <a:r>
              <a:rPr lang="en-US" sz="2000" dirty="0"/>
              <a:t> No hidden lag-driven predictability</a:t>
            </a:r>
          </a:p>
          <a:p>
            <a:r>
              <a:rPr lang="en-US" sz="2000" dirty="0"/>
              <a:t>Returns do not have meaningful AR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2000" dirty="0"/>
              <a:t>structure</a:t>
            </a:r>
          </a:p>
          <a:p>
            <a:r>
              <a:rPr lang="en-US" sz="2000" dirty="0"/>
              <a:t>Supports weak form: no exploitable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sz="2000" dirty="0"/>
              <a:t>return timing</a:t>
            </a:r>
          </a:p>
          <a:p>
            <a:r>
              <a:rPr lang="en-US" sz="2000" dirty="0"/>
              <a:t>Need to model volatility instead</a:t>
            </a:r>
            <a:endParaRPr lang="en-IN" sz="2000" dirty="0"/>
          </a:p>
        </p:txBody>
      </p:sp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75D569A9-A7AF-4589-2793-38BDA65DD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19845"/>
            <a:ext cx="5843155" cy="35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8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855C-DDDA-9B38-399A-C6061307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Stationarity Tests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2EFD-AB5C-6638-AA1E-C2CA3C23F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ADF and PP p-values are below 0.05</a:t>
            </a:r>
          </a:p>
          <a:p>
            <a:r>
              <a:rPr lang="en-US" sz="2000" dirty="0"/>
              <a:t>we reject the null of non-stationarity</a:t>
            </a:r>
          </a:p>
          <a:p>
            <a:r>
              <a:rPr lang="en-US" sz="2000" dirty="0"/>
              <a:t>KPSS fails to reject the null of stationarity</a:t>
            </a:r>
          </a:p>
          <a:p>
            <a:r>
              <a:rPr lang="en-US" sz="2000" dirty="0"/>
              <a:t>Results fluctuate around constant mean and no drift</a:t>
            </a:r>
          </a:p>
          <a:p>
            <a:r>
              <a:rPr lang="en-US" sz="2000" dirty="0"/>
              <a:t>return dynamics are white noise like, not </a:t>
            </a:r>
          </a:p>
          <a:p>
            <a:pPr marL="0" indent="0">
              <a:buNone/>
            </a:pPr>
            <a:r>
              <a:rPr lang="en-US" sz="2000" dirty="0"/>
              <a:t>     trend-driven</a:t>
            </a:r>
          </a:p>
          <a:p>
            <a:endParaRPr lang="en-IN" sz="1800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23ADAD4-CF6C-4770-B662-1A98BFF53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190" y="3917993"/>
            <a:ext cx="4437992" cy="233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3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FE10-D190-6302-CD88-AD89B279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pPr algn="ctr"/>
            <a:r>
              <a:rPr lang="en-US" dirty="0"/>
              <a:t>ARIMA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8C0A-78EB-2933-57C9-373146930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772"/>
            <a:ext cx="10515600" cy="4884191"/>
          </a:xfrm>
        </p:spPr>
        <p:txBody>
          <a:bodyPr>
            <a:normAutofit/>
          </a:bodyPr>
          <a:lstStyle/>
          <a:p>
            <a:r>
              <a:rPr lang="en-US" sz="2000" dirty="0"/>
              <a:t>ARIMA search across (0,0,0), (1,0,0), (0,0,1), (1,0,1) using BIC</a:t>
            </a:r>
          </a:p>
          <a:p>
            <a:r>
              <a:rPr lang="en-US" sz="2000" dirty="0"/>
              <a:t>ARIMA(0,0,0) gives the lowest BIC for all 5 sectors</a:t>
            </a:r>
          </a:p>
          <a:p>
            <a:r>
              <a:rPr lang="en-US" sz="2000" dirty="0"/>
              <a:t>no autoregressive or moving-average structure</a:t>
            </a:r>
          </a:p>
          <a:p>
            <a:r>
              <a:rPr lang="en-US" sz="2000" dirty="0"/>
              <a:t>Consistent with flat ACF/PACF and weak-form market efficiency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 descr="A screenshot of a computer screen">
            <a:extLst>
              <a:ext uri="{FF2B5EF4-FFF2-40B4-BE49-F238E27FC236}">
                <a16:creationId xmlns:a16="http://schemas.microsoft.com/office/drawing/2014/main" id="{C63469F1-AE8A-2280-5F64-69879EB8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382" y="3205655"/>
            <a:ext cx="7389011" cy="297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4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6925-9A72-8459-68B1-E1646712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Rolling Volatility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CFC2-D5AF-66B0-A718-C80830066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918"/>
            <a:ext cx="10515600" cy="5169045"/>
          </a:xfrm>
        </p:spPr>
        <p:txBody>
          <a:bodyPr>
            <a:normAutofit/>
          </a:bodyPr>
          <a:lstStyle/>
          <a:p>
            <a:r>
              <a:rPr lang="en-US" sz="2000" dirty="0"/>
              <a:t>Volatility is time varying and clustered across sectors</a:t>
            </a:r>
          </a:p>
          <a:p>
            <a:r>
              <a:rPr lang="en-US" sz="2000" dirty="0"/>
              <a:t>Volatility has good persistence (quiet to sudden) and shows regime shifts</a:t>
            </a:r>
          </a:p>
          <a:p>
            <a:r>
              <a:rPr lang="en-US" sz="2000" dirty="0"/>
              <a:t>Banking and Auto show sharp spikes</a:t>
            </a:r>
          </a:p>
          <a:p>
            <a:r>
              <a:rPr lang="en-US" sz="2000" dirty="0"/>
              <a:t>FMCG and Pharma are relatively stable</a:t>
            </a:r>
          </a:p>
          <a:p>
            <a:r>
              <a:rPr lang="en-US" sz="2000" dirty="0"/>
              <a:t>Returns behave like white noise, but volatility not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4" name="Picture 3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ED8171EF-039A-867D-8E78-266A7DD7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191" y="3210791"/>
            <a:ext cx="8085441" cy="330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5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878E-552A-B742-C1FD-CA4106E8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461"/>
          </a:xfrm>
        </p:spPr>
        <p:txBody>
          <a:bodyPr/>
          <a:lstStyle/>
          <a:p>
            <a:pPr algn="ctr"/>
            <a:r>
              <a:rPr lang="en-US" dirty="0"/>
              <a:t>GARCH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5557D-6462-E77C-C6DB-46CEF5873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59"/>
            <a:ext cx="10515600" cy="4999804"/>
          </a:xfrm>
        </p:spPr>
        <p:txBody>
          <a:bodyPr/>
          <a:lstStyle/>
          <a:p>
            <a:r>
              <a:rPr lang="en-US" sz="2000" b="1" dirty="0"/>
              <a:t>GARCH(1,1)</a:t>
            </a:r>
          </a:p>
          <a:p>
            <a:pPr lvl="1"/>
            <a:r>
              <a:rPr lang="en-US" sz="2000" dirty="0"/>
              <a:t>Volatility today = baseline + reaction to shocks (α) + persistence (β)</a:t>
            </a:r>
          </a:p>
          <a:p>
            <a:pPr lvl="1"/>
            <a:r>
              <a:rPr lang="en-US" sz="2000" dirty="0"/>
              <a:t>α + β close to 1 → long‐lasting volatility</a:t>
            </a:r>
          </a:p>
          <a:p>
            <a:pPr lvl="1"/>
            <a:r>
              <a:rPr lang="en-US" sz="2000" dirty="0"/>
              <a:t>Captures clustering but assumes symmetric shock impact</a:t>
            </a:r>
          </a:p>
          <a:p>
            <a:r>
              <a:rPr lang="en-US" sz="2000" b="1" dirty="0"/>
              <a:t>EGARCH(1,1)</a:t>
            </a:r>
          </a:p>
          <a:p>
            <a:pPr lvl="1"/>
            <a:r>
              <a:rPr lang="en-US" sz="2000" b="1" dirty="0"/>
              <a:t>asymmetric reaction</a:t>
            </a:r>
            <a:r>
              <a:rPr lang="en-US" sz="2000" dirty="0"/>
              <a:t>: bad news vs good news</a:t>
            </a:r>
          </a:p>
          <a:p>
            <a:pPr lvl="1"/>
            <a:r>
              <a:rPr lang="en-IN" sz="2000" dirty="0"/>
              <a:t>Uses </a:t>
            </a:r>
            <a:r>
              <a:rPr lang="en-IN" sz="2000" b="1" dirty="0"/>
              <a:t>log‐variance</a:t>
            </a:r>
            <a:r>
              <a:rPr lang="en-IN" sz="2000" dirty="0"/>
              <a:t>, ensures positive volatility without constraints</a:t>
            </a:r>
          </a:p>
          <a:p>
            <a:pPr lvl="1"/>
            <a:r>
              <a:rPr lang="en-US" sz="2000" dirty="0"/>
              <a:t>Better suited for crisis regimes </a:t>
            </a:r>
            <a:endParaRPr lang="en-US" sz="2000" b="1" dirty="0"/>
          </a:p>
          <a:p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BC0B4EB-7B3C-B5D7-C3E5-18F1A393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319" y="4251434"/>
            <a:ext cx="6313148" cy="260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8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3DEF-2D88-0A80-C6E3-F4A27785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774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6F521-6B8B-5ECF-620C-5FCA3CDBD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2870"/>
            <a:ext cx="10515600" cy="5294093"/>
          </a:xfrm>
        </p:spPr>
        <p:txBody>
          <a:bodyPr>
            <a:normAutofit/>
          </a:bodyPr>
          <a:lstStyle/>
          <a:p>
            <a:r>
              <a:rPr lang="en-US" sz="2000" dirty="0"/>
              <a:t>GARCH persistence α+β =0.88 – 0.99 : volatility stays too long</a:t>
            </a:r>
          </a:p>
          <a:p>
            <a:r>
              <a:rPr lang="en-US" sz="2000" dirty="0"/>
              <a:t>EGARCH persistence drops to = 0.74–0.90 : more realistic shock decay</a:t>
            </a:r>
          </a:p>
          <a:p>
            <a:r>
              <a:rPr lang="en-US" sz="2000" dirty="0"/>
              <a:t>EGARCH captures asymmetry (γ present); GARCH has no γ term</a:t>
            </a:r>
          </a:p>
          <a:p>
            <a:r>
              <a:rPr lang="en-US" sz="2000" dirty="0"/>
              <a:t>γ &gt; 0 (Bank 0.18, IT 0.17, Pharma 0.12) → bad news causes larger volatility jumps</a:t>
            </a:r>
          </a:p>
          <a:p>
            <a:r>
              <a:rPr lang="en-IN" sz="2000" dirty="0"/>
              <a:t>GARCH: persistence driver (</a:t>
            </a:r>
            <a:r>
              <a:rPr lang="el-GR" sz="2000" dirty="0"/>
              <a:t>α+β) </a:t>
            </a:r>
            <a:r>
              <a:rPr lang="en-IN" sz="2000" dirty="0"/>
              <a:t>vs EGARCH: shock response driver (</a:t>
            </a:r>
            <a:r>
              <a:rPr lang="el-GR" sz="2000" dirty="0"/>
              <a:t>γ)</a:t>
            </a:r>
            <a:endParaRPr lang="en-US" sz="2000" dirty="0"/>
          </a:p>
          <a:p>
            <a:r>
              <a:rPr lang="en-US" sz="2000" dirty="0"/>
              <a:t>GARCH assumes volatility never dies. EGARCH shows it decays not instantly</a:t>
            </a:r>
          </a:p>
          <a:p>
            <a:r>
              <a:rPr lang="en-US" sz="2000" dirty="0"/>
              <a:t>EGARCH better reflects real risk behavior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8B451DE-E8F8-32A5-0815-2478A9910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474" y="4173208"/>
            <a:ext cx="5159051" cy="231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3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0058-5D50-6586-F7FD-3305010B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101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Volatility Forecast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74E14-D637-2177-2453-7D243079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138"/>
            <a:ext cx="10515600" cy="5020825"/>
          </a:xfrm>
        </p:spPr>
        <p:txBody>
          <a:bodyPr>
            <a:normAutofit/>
          </a:bodyPr>
          <a:lstStyle/>
          <a:p>
            <a:r>
              <a:rPr lang="en-US" sz="2000" dirty="0"/>
              <a:t>log returns used for volatility forecasting</a:t>
            </a:r>
          </a:p>
          <a:p>
            <a:r>
              <a:rPr lang="en-US" sz="2000" dirty="0"/>
              <a:t>EGARCH model trained on full series minus test window</a:t>
            </a:r>
          </a:p>
          <a:p>
            <a:r>
              <a:rPr lang="en-US" sz="2000" dirty="0"/>
              <a:t>One-step-ahead rolling forecasts generated for test period</a:t>
            </a:r>
          </a:p>
          <a:p>
            <a:r>
              <a:rPr lang="en-US" sz="2000" dirty="0"/>
              <a:t>Realized volatility computed using rolling window standard deviation (window size = 20 days)</a:t>
            </a:r>
          </a:p>
          <a:p>
            <a:r>
              <a:rPr lang="en-US" sz="2000" dirty="0"/>
              <a:t>Both expressed as annualized volatility</a:t>
            </a:r>
          </a:p>
          <a:p>
            <a:r>
              <a:rPr lang="en-US" sz="2000" dirty="0"/>
              <a:t>Accuracy measured using RMSE, MAE, MAPE</a:t>
            </a:r>
          </a:p>
          <a:p>
            <a:r>
              <a:rPr lang="en-US" sz="2000" dirty="0"/>
              <a:t>errors remain consistently low across all sectors</a:t>
            </a:r>
          </a:p>
          <a:p>
            <a:r>
              <a:rPr lang="en-US" sz="2000" dirty="0"/>
              <a:t>FMCG &amp; Pharma show lowest MAE – more stable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CEAC0B81-B2E8-2C75-B6EB-7F50C160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51" y="3559066"/>
            <a:ext cx="5129049" cy="24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80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">
            <a:extLst>
              <a:ext uri="{FF2B5EF4-FFF2-40B4-BE49-F238E27FC236}">
                <a16:creationId xmlns:a16="http://schemas.microsoft.com/office/drawing/2014/main" id="{8FEA5E59-E387-8CEF-7E7C-44CDFC20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38" y="115614"/>
            <a:ext cx="11740055" cy="661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9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328B-8C2F-5259-D488-7370CB3F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926"/>
            <a:ext cx="10515600" cy="150607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181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1793</TotalTime>
  <Words>571</Words>
  <Application>Microsoft Office PowerPoint</Application>
  <PresentationFormat>Widescreen</PresentationFormat>
  <Paragraphs>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Ion</vt:lpstr>
      <vt:lpstr>VOLATILITY FORECASTING AND SECTORAL RISK PROPOGATION IN INDIAN MARKETS : A GARCH PERSPECTIVE</vt:lpstr>
      <vt:lpstr>Agenda</vt:lpstr>
      <vt:lpstr>Introduction</vt:lpstr>
      <vt:lpstr>Data Description</vt:lpstr>
      <vt:lpstr>Stationarity</vt:lpstr>
      <vt:lpstr>PowerPoint Presentation</vt:lpstr>
      <vt:lpstr>Stationarity Tests</vt:lpstr>
      <vt:lpstr>ARIMA</vt:lpstr>
      <vt:lpstr>Rolling Volatility</vt:lpstr>
      <vt:lpstr>GARCH</vt:lpstr>
      <vt:lpstr>PowerPoint Presentation</vt:lpstr>
      <vt:lpstr>Volatility Forecast Accuracy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Kshitij Bhandari</dc:creator>
  <cp:lastModifiedBy>Kshitij Bhandari</cp:lastModifiedBy>
  <cp:revision>10</cp:revision>
  <dcterms:created xsi:type="dcterms:W3CDTF">2025-12-08T06:11:46Z</dcterms:created>
  <dcterms:modified xsi:type="dcterms:W3CDTF">2025-12-09T20:08:55Z</dcterms:modified>
</cp:coreProperties>
</file>